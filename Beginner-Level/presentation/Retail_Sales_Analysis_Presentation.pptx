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4"/>
    <p:sldId id="260" r:id="rId5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775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slide" Target="slides/slide18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jpeg"/><Relationship Id="rId10" Type="http://schemas.openxmlformats.org/officeDocument/2006/relationships/image" Target="../media/image10.jpeg"/><Relationship Id="rId11" Type="http://schemas.openxmlformats.org/officeDocument/2006/relationships/image" Target="../media/image1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nav Rachna Vidyanatariksha - Manav Rachna Educational Institutions">
            <a:extLst>
              <a:ext uri="{FF2B5EF4-FFF2-40B4-BE49-F238E27FC236}">
                <a16:creationId xmlns:a16="http://schemas.microsoft.com/office/drawing/2014/main" id="{DA56EE78-9C3F-7845-9EF2-96EEBB8F51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29" y="4596370"/>
            <a:ext cx="3742348" cy="216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nav Rachna announces MRNAT 2021 for admission to 100+ courses - Hindustan  Times">
            <a:extLst>
              <a:ext uri="{FF2B5EF4-FFF2-40B4-BE49-F238E27FC236}">
                <a16:creationId xmlns:a16="http://schemas.microsoft.com/office/drawing/2014/main" id="{089EA624-4520-7F4B-8195-8CAA7EB404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3" y="2389150"/>
            <a:ext cx="3505200" cy="220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urses - Explore new edge Courses at Manav Rachna">
            <a:extLst>
              <a:ext uri="{FF2B5EF4-FFF2-40B4-BE49-F238E27FC236}">
                <a16:creationId xmlns:a16="http://schemas.microsoft.com/office/drawing/2014/main" id="{4BFE081B-4D26-1948-B598-AAC2F9BA42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632" y="2519901"/>
            <a:ext cx="3282073" cy="217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nav Rachna International University, Aravalli Campus | Edunuts">
            <a:extLst>
              <a:ext uri="{FF2B5EF4-FFF2-40B4-BE49-F238E27FC236}">
                <a16:creationId xmlns:a16="http://schemas.microsoft.com/office/drawing/2014/main" id="{0B247C89-BA4B-9E4A-B1DE-853BEAF0ED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108" y="100075"/>
            <a:ext cx="3332597" cy="241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ntitled design (1)">
            <a:extLst>
              <a:ext uri="{FF2B5EF4-FFF2-40B4-BE49-F238E27FC236}">
                <a16:creationId xmlns:a16="http://schemas.microsoft.com/office/drawing/2014/main" id="{C1476F4A-AE22-A04D-A3DD-89121DEAAE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648" y="100075"/>
            <a:ext cx="4217897" cy="239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ED3E1F66-616A-654E-9B12-6C27A1F57C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0" y="33972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1C04F10C-4F57-BD4C-90DB-FAFD2185B5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50" y="35496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5D879326-88C5-8F43-9034-478FE58141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050" y="3702050"/>
            <a:ext cx="63500" cy="6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anav Rachna International Institute of Research and Studies - Wikipedia">
            <a:extLst>
              <a:ext uri="{FF2B5EF4-FFF2-40B4-BE49-F238E27FC236}">
                <a16:creationId xmlns:a16="http://schemas.microsoft.com/office/drawing/2014/main" id="{1A9B9F7F-45A0-0045-A348-45989F0B08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077" y="2499704"/>
            <a:ext cx="4405147" cy="202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anav rachana university - Samsung Members">
            <a:extLst>
              <a:ext uri="{FF2B5EF4-FFF2-40B4-BE49-F238E27FC236}">
                <a16:creationId xmlns:a16="http://schemas.microsoft.com/office/drawing/2014/main" id="{03086A82-E0A3-5A43-84FD-FE4B653F9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446" y="4586883"/>
            <a:ext cx="4464302" cy="21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Manav Rachna International University Faridabad - Home | Facebook">
            <a:extLst>
              <a:ext uri="{FF2B5EF4-FFF2-40B4-BE49-F238E27FC236}">
                <a16:creationId xmlns:a16="http://schemas.microsoft.com/office/drawing/2014/main" id="{DC5F85BF-9EA6-5D4D-87B0-D2E0D22AB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3" y="106263"/>
            <a:ext cx="3505200" cy="228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Manav Rachna University - [MRU], Faridabad - Images, Photos, Videos,  Gallery 2022-2023">
            <a:extLst>
              <a:ext uri="{FF2B5EF4-FFF2-40B4-BE49-F238E27FC236}">
                <a16:creationId xmlns:a16="http://schemas.microsoft.com/office/drawing/2014/main" id="{B6184619-859E-6D48-8A27-977A81CDB8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748" y="4595317"/>
            <a:ext cx="3682252" cy="216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5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8D87-2398-684A-9DDE-33B6CDD159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24114"/>
            <a:ext cx="10515600" cy="7477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10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14E67BA-00B2-1C43-BC44-2F4904A88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0800000" flipV="1">
            <a:off x="-169333" y="599168"/>
            <a:ext cx="12192000" cy="1181100"/>
          </a:xfrm>
        </p:spPr>
        <p:txBody>
          <a:bodyPr>
            <a:normAutofit fontScale="90000"/>
          </a:bodyPr>
          <a:lstStyle>
            <a:lvl1pPr algn="ctr">
              <a:defRPr/>
            </a:lvl1pPr>
          </a:lstStyle>
          <a:p>
            <a:r>
              <a:rPr lang="en-US" b="1" u="sng" dirty="0">
                <a:solidFill>
                  <a:schemeClr val="tx1"/>
                </a:solidFill>
              </a:rPr>
              <a:t/>
            </a:r>
            <a:br>
              <a:rPr lang="en-US" b="1" u="sng" dirty="0">
                <a:solidFill>
                  <a:schemeClr val="tx1"/>
                </a:solidFill>
              </a:rPr>
            </a:br>
            <a:r>
              <a:rPr lang="en-US" sz="40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Internship</a:t>
            </a:r>
            <a:br>
              <a:rPr lang="en-US" sz="40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Title</a:t>
            </a:r>
            <a:endParaRPr lang="en-US" sz="22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2F39557-113C-904F-B900-127893A3B1B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57802228"/>
              </p:ext>
            </p:extLst>
          </p:nvPr>
        </p:nvGraphicFramePr>
        <p:xfrm>
          <a:off x="631823" y="2848502"/>
          <a:ext cx="10598151" cy="222923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32717">
                  <a:extLst>
                    <a:ext uri="{9D8B030D-6E8A-4147-A177-3AD203B41FA5}">
                      <a16:colId xmlns:a16="http://schemas.microsoft.com/office/drawing/2014/main" val="521847190"/>
                    </a:ext>
                  </a:extLst>
                </a:gridCol>
                <a:gridCol w="3532717">
                  <a:extLst>
                    <a:ext uri="{9D8B030D-6E8A-4147-A177-3AD203B41FA5}">
                      <a16:colId xmlns:a16="http://schemas.microsoft.com/office/drawing/2014/main" val="460951760"/>
                    </a:ext>
                  </a:extLst>
                </a:gridCol>
                <a:gridCol w="3532717">
                  <a:extLst>
                    <a:ext uri="{9D8B030D-6E8A-4147-A177-3AD203B41FA5}">
                      <a16:colId xmlns:a16="http://schemas.microsoft.com/office/drawing/2014/main" val="2540943373"/>
                    </a:ext>
                  </a:extLst>
                </a:gridCol>
              </a:tblGrid>
              <a:tr h="557308">
                <a:tc>
                  <a:txBody>
                    <a:bodyPr/>
                    <a:lstStyle/>
                    <a:p>
                      <a:r>
                        <a:rPr lang="en-US" dirty="0"/>
                        <a:t>Kashish Srivastava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1/23/SET/BCS/240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 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79926"/>
                  </a:ext>
                </a:extLst>
              </a:tr>
              <a:tr h="5573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469640"/>
                  </a:ext>
                </a:extLst>
              </a:tr>
              <a:tr h="5573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199656"/>
                  </a:ext>
                </a:extLst>
              </a:tr>
              <a:tr h="5573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69139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A715ED-92A5-7343-AA71-4F39C7218393}"/>
              </a:ext>
            </a:extLst>
          </p:cNvPr>
          <p:cNvSpPr/>
          <p:nvPr userDrawn="1"/>
        </p:nvSpPr>
        <p:spPr>
          <a:xfrm>
            <a:off x="3048000" y="5438081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b="1" u="sng" dirty="0"/>
              <a:t>Under the guidance of</a:t>
            </a:r>
            <a:endParaRPr lang="en-US" sz="2000" dirty="0"/>
          </a:p>
          <a:p>
            <a:pPr algn="ctr"/>
            <a:r>
              <a:rPr lang="en-US" sz="2000" b="1" u="sng" dirty="0"/>
              <a:t>Aakash S</a:t>
            </a:r>
            <a:endParaRPr 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2818260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CDAC07-011F-724B-A774-2B2E665C0FDC}"/>
              </a:ext>
            </a:extLst>
          </p:cNvPr>
          <p:cNvSpPr txBox="1">
            <a:spLocks/>
          </p:cNvSpPr>
          <p:nvPr userDrawn="1"/>
        </p:nvSpPr>
        <p:spPr>
          <a:xfrm>
            <a:off x="762000" y="4270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u="sng" dirty="0">
                <a:latin typeface="Times New Roman" pitchFamily="18" charset="0"/>
                <a:cs typeface="Times New Roman" pitchFamily="18" charset="0"/>
              </a:rPr>
              <a:t>CONTENTS</a:t>
            </a:r>
            <a:endParaRPr lang="en-US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67A64F-2944-E640-A216-FDB826AE8CD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62000" y="1570039"/>
            <a:ext cx="6715246" cy="4708525"/>
          </a:xfrm>
        </p:spPr>
        <p:txBody>
          <a:bodyPr>
            <a:normAutofit/>
          </a:bodyPr>
          <a:lstStyle/>
          <a:p>
            <a:pPr lvl="0" algn="just">
              <a:buNone/>
            </a:pPr>
            <a:r>
              <a:rPr lang="en-GB" sz="2400" b="1"/>
              <a:t>Click to edit Master text styles</a:t>
            </a:r>
          </a:p>
          <a:p>
            <a:pPr lvl="1" algn="just">
              <a:buNone/>
            </a:pPr>
            <a:r>
              <a:rPr lang="en-GB" sz="2400" b="1"/>
              <a:t>Second level</a:t>
            </a:r>
          </a:p>
          <a:p>
            <a:pPr lvl="2" algn="just">
              <a:buNone/>
            </a:pPr>
            <a:r>
              <a:rPr lang="en-GB" sz="2400" b="1"/>
              <a:t>Third level</a:t>
            </a:r>
          </a:p>
          <a:p>
            <a:pPr lvl="3" algn="just">
              <a:buNone/>
            </a:pPr>
            <a:r>
              <a:rPr lang="en-GB" sz="2400" b="1"/>
              <a:t>Fourth level</a:t>
            </a:r>
          </a:p>
          <a:p>
            <a:pPr lvl="4" algn="just">
              <a:buNone/>
            </a:pPr>
            <a:r>
              <a:rPr lang="en-GB" sz="2400" b="1"/>
              <a:t>Fifth level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8626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2DE8-73D3-564B-8284-9A25B4D63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BD2C4-8554-5D45-A9B6-84D62A98A810}"/>
              </a:ext>
            </a:extLst>
          </p:cNvPr>
          <p:cNvSpPr txBox="1"/>
          <p:nvPr userDrawn="1"/>
        </p:nvSpPr>
        <p:spPr>
          <a:xfrm>
            <a:off x="839788" y="2000250"/>
            <a:ext cx="10515600" cy="3757613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ys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6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C9AF-B791-B14F-9125-E36041EE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35249" y="2765744"/>
            <a:ext cx="862293" cy="45719"/>
          </a:xfrm>
          <a:prstGeom prst="rect">
            <a:avLst/>
          </a:prstGeom>
        </p:spPr>
        <p:txBody>
          <a:bodyPr/>
          <a:lstStyle/>
          <a:p>
            <a:fld id="{E217746A-1CFF-294A-9123-DA575A527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8E0C9D-C90E-CB4C-87ED-15E2B1663158}"/>
              </a:ext>
            </a:extLst>
          </p:cNvPr>
          <p:cNvSpPr/>
          <p:nvPr userDrawn="1"/>
        </p:nvSpPr>
        <p:spPr>
          <a:xfrm>
            <a:off x="3157538" y="1971675"/>
            <a:ext cx="5757862" cy="161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52F228-146A-EE4E-B878-321BCE78D83A}"/>
              </a:ext>
            </a:extLst>
          </p:cNvPr>
          <p:cNvCxnSpPr/>
          <p:nvPr userDrawn="1"/>
        </p:nvCxnSpPr>
        <p:spPr>
          <a:xfrm>
            <a:off x="71437" y="3186113"/>
            <a:ext cx="12049125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Picture 22" descr="Manav Rachna International Institute of Research and Studies - Wikipedia">
            <a:extLst>
              <a:ext uri="{FF2B5EF4-FFF2-40B4-BE49-F238E27FC236}">
                <a16:creationId xmlns:a16="http://schemas.microsoft.com/office/drawing/2014/main" id="{FE69C493-850B-9F4B-9787-86D6922824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424" y="3386633"/>
            <a:ext cx="2681152" cy="128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9572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F4CBAD-0244-F344-B900-31F08F97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059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AD6E6-1925-0844-B4D6-C9F569EEA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7" name="Picture 2" descr="Manav Rachna International Institute of Research and Studies - Home |  Facebook">
            <a:extLst>
              <a:ext uri="{FF2B5EF4-FFF2-40B4-BE49-F238E27FC236}">
                <a16:creationId xmlns:a16="http://schemas.microsoft.com/office/drawing/2014/main" id="{4E058E34-9B9B-CF45-9C8A-FE3FD7B2DF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0681" y="204787"/>
            <a:ext cx="1646238" cy="164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98028D-2105-7649-9A51-BE6AAAB7795F}"/>
              </a:ext>
            </a:extLst>
          </p:cNvPr>
          <p:cNvSpPr/>
          <p:nvPr userDrawn="1"/>
        </p:nvSpPr>
        <p:spPr>
          <a:xfrm>
            <a:off x="0" y="0"/>
            <a:ext cx="12192000" cy="10001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3D44B-02BF-4E44-A7DF-74CEFF171A6F}"/>
              </a:ext>
            </a:extLst>
          </p:cNvPr>
          <p:cNvSpPr/>
          <p:nvPr userDrawn="1"/>
        </p:nvSpPr>
        <p:spPr>
          <a:xfrm>
            <a:off x="0" y="6754812"/>
            <a:ext cx="12192000" cy="10001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2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  <p:sldLayoutId id="2147483654" r:id="rId4"/>
    <p:sldLayoutId id="2147483656" r:id="rId5"/>
    <p:sldLayoutId id="214748365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09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189E-33F9-0C4F-987F-0080C3BB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-115503" y="606391"/>
            <a:ext cx="12138170" cy="1164251"/>
          </a:xfrm>
        </p:spPr>
        <p:txBody>
          <a:bodyPr>
            <a:normAutofit fontScale="90000"/>
          </a:bodyPr>
          <a:lstStyle/>
          <a:p>
            <a:r>
              <a:rPr lang="en-US" dirty="0"/>
              <a:t>Industrial Training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Retail Sales &amp; Business Performance Analysis Dashboard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10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A431C-FE84-3141-AEBD-AA98A59F5B6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62000" y="1570038"/>
            <a:ext cx="6910388" cy="4708525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2.Company Details/ STIPHEND Details</a:t>
            </a: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3.Objectives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Internship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4.Project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/Task  Overview/ Problem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5.Technical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Acquired/ to be acquired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6.Challenges Faced</a:t>
            </a: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7.Achievements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8.Learning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9.Industry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and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Project Modules</a:t>
            </a: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11.Methodology Used                                               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12.Result/Output (till now with screenshots)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13.Conclusion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future scope                                                                                             </a:t>
            </a:r>
          </a:p>
          <a:p>
            <a:pPr algn="just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14.References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4709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375623"/>
                </a:solidFill>
                <a:latin typeface="Calibri"/>
              </a:rPr>
              <a:t>About the Project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2219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Beginner-Level Data Analyst internship project — converting raw retail transaction data into clear, actionable business insights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6791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Business question: How is the retail business performing — which products, categories, and regions drive revenue and profit?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375623"/>
                </a:solidFill>
                <a:latin typeface="Calibri"/>
              </a:rPr>
              <a:t>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6850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84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Clean and validate a raw transactional dataset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1422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Calculate core business KPIs (Sales, Profit, Orders, AOV, Margin)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5994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Analyze performance across time, category, product, region &amp; customer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0566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560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Build a filterable, formula-driven Excel dashboard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55138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Translate findings into evidence-based business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94960"/>
            <a:ext cx="10835640" cy="685800"/>
          </a:xfrm>
          <a:prstGeom prst="roundRect">
            <a:avLst/>
          </a:prstGeom>
          <a:solidFill>
            <a:srgbClr val="FFF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68112"/>
            <a:ext cx="10469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375623"/>
                </a:solidFill>
                <a:latin typeface="Calibri"/>
              </a:rPr>
              <a:t>This project is Level 1 of 3 — Beginner (completed) → Intermediate → Advanced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Company &amp; Internship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74520"/>
            <a:ext cx="2743200" cy="566928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94767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>ShadowFox — Data Analyst Internship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51760"/>
            <a:ext cx="2743200" cy="566928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7249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>Aakash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2743200" cy="566928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Program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021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>Multi-level internship: Beginner → Intermediate → Advanced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06240"/>
            <a:ext cx="2743200" cy="566928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Current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27939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>Beginner-Level project —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83480"/>
            <a:ext cx="2743200" cy="566928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05663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>Remote / self-paced project-based internship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4360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i="1"/>
            </a:pPr>
            <a:r>
              <a:rPr sz="1100" b="0">
                <a:solidFill>
                  <a:srgbClr val="707070"/>
                </a:solidFill>
                <a:latin typeface="Calibri"/>
              </a:rPr>
              <a:t>Note: Please verify organization/mentor details are accurate before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Project Overview &amp;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91640"/>
            <a:ext cx="10835640" cy="960120"/>
          </a:xfrm>
          <a:prstGeom prst="roundRect">
            <a:avLst/>
          </a:prstGeom>
          <a:solidFill>
            <a:srgbClr val="E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01368"/>
            <a:ext cx="10378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 b="1">
                <a:solidFill>
                  <a:srgbClr val="375623"/>
                </a:solidFill>
                <a:latin typeface="Calibri"/>
              </a:rPr>
              <a:t>“How is the retail business performing, and which products, categories, and regions are driving revenue and profit — and where are the opportunities for improvement?”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75623"/>
                </a:solidFill>
                <a:latin typeface="Calibri"/>
              </a:rPr>
              <a:t>Dataset Scope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5935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930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Synthetic retail/e-commerce dataset, built to mirror a realistic export (disclosed, not real company data)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4050791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50207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15 months of transactions: January 2024 – March 2025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5079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07407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5 product categories · 4 regions · 386 unique customers · 5 payment methods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9651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64607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2,233 raw records → 2,189 cleaned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1208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75623"/>
                </a:solidFill>
                <a:latin typeface="Calibri"/>
              </a:rPr>
              <a:t>Deliverables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74243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418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Cleaned dataset + formula-driven Excel dashboard + documented 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Technical Skills Acquired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783080"/>
            <a:ext cx="5257800" cy="1417320"/>
          </a:xfrm>
          <a:prstGeom prst="roundRect">
            <a:avLst/>
          </a:prstGeom>
          <a:solidFill>
            <a:srgbClr val="E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" y="1947672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019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75623"/>
                </a:solidFill>
                <a:latin typeface="Calibri"/>
              </a:rPr>
              <a:t>Data Cleaning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8600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404040"/>
                </a:solidFill>
                <a:latin typeface="Calibri"/>
              </a:rPr>
              <a:t>Handling duplicates, missing values, invalid entries, and inconsistent formatting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257800" cy="1417320"/>
          </a:xfrm>
          <a:prstGeom prst="roundRect">
            <a:avLst/>
          </a:prstGeom>
          <a:solidFill>
            <a:srgbClr val="E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28231" y="1947672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019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75623"/>
                </a:solidFill>
                <a:latin typeface="Calibri"/>
              </a:rPr>
              <a:t>Excel Formula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28600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404040"/>
                </a:solidFill>
                <a:latin typeface="Calibri"/>
              </a:rPr>
              <a:t>SUMIFS, COUNTIFS, SUMPRODUCT, INDEX/MATCH, RANK for live 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29000"/>
            <a:ext cx="5257800" cy="1417320"/>
          </a:xfrm>
          <a:prstGeom prst="roundRect">
            <a:avLst/>
          </a:prstGeom>
          <a:solidFill>
            <a:srgbClr val="E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593592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547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75623"/>
                </a:solidFill>
                <a:latin typeface="Calibri"/>
              </a:rPr>
              <a:t>KPI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3192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404040"/>
                </a:solidFill>
                <a:latin typeface="Calibri"/>
              </a:rPr>
              <a:t>Defining and calculating business-relevant performance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5257800" cy="1417320"/>
          </a:xfrm>
          <a:prstGeom prst="roundRect">
            <a:avLst/>
          </a:prstGeom>
          <a:solidFill>
            <a:srgbClr val="E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1" y="3593592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547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75623"/>
                </a:solidFill>
                <a:latin typeface="Calibri"/>
              </a:rPr>
              <a:t>Dashboard &amp;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93192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404040"/>
                </a:solidFill>
                <a:latin typeface="Calibri"/>
              </a:rPr>
              <a:t>Building filterable dashboards with linked charts and KPI cards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74920"/>
            <a:ext cx="5257800" cy="1417320"/>
          </a:xfrm>
          <a:prstGeom prst="roundRect">
            <a:avLst/>
          </a:prstGeom>
          <a:solidFill>
            <a:srgbClr val="E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5239512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1937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75623"/>
                </a:solidFill>
                <a:latin typeface="Calibri"/>
              </a:rPr>
              <a:t>Python (pandas)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7784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404040"/>
                </a:solidFill>
                <a:latin typeface="Calibri"/>
              </a:rPr>
              <a:t>Structured data generation, inspection, and cleaning documentation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5074920"/>
            <a:ext cx="5257800" cy="1417320"/>
          </a:xfrm>
          <a:prstGeom prst="roundRect">
            <a:avLst/>
          </a:prstGeom>
          <a:solidFill>
            <a:srgbClr val="E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8231" y="5239512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1937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75623"/>
                </a:solidFill>
                <a:latin typeface="Calibri"/>
              </a:rPr>
              <a:t>Business Insight Writing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57784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404040"/>
                </a:solidFill>
                <a:latin typeface="Calibri"/>
              </a:rPr>
              <a:t>Turning numbers into evidence-based, actionable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Project Modules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993392"/>
            <a:ext cx="10104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Data Collection &amp; Inspection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633472"/>
            <a:ext cx="502920" cy="50292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706624"/>
            <a:ext cx="10104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Data Cleaning &amp; Transformation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346704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419856"/>
            <a:ext cx="10104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KPI Calculation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059936"/>
            <a:ext cx="502920" cy="50292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133088"/>
            <a:ext cx="10104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Multi-Dimensional Analysis (Monthly / Category / Product / Region / Customer)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773168"/>
            <a:ext cx="502920" cy="5029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46320"/>
            <a:ext cx="10104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Dashboard Design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486400"/>
            <a:ext cx="502920" cy="50292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559552"/>
            <a:ext cx="101041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50" b="1">
                <a:solidFill>
                  <a:srgbClr val="404040"/>
                </a:solidFill>
                <a:latin typeface="Calibri"/>
              </a:rPr>
              <a:t>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Methodology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926080"/>
            <a:ext cx="1417320" cy="10515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Business
Problem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21408" y="3369564"/>
            <a:ext cx="115823" cy="164592"/>
          </a:xfrm>
          <a:prstGeom prst="righ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55520" y="2926080"/>
            <a:ext cx="1417320" cy="10515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Data
Collection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91127" y="3369564"/>
            <a:ext cx="115823" cy="164592"/>
          </a:xfrm>
          <a:prstGeom prst="righ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25240" y="2926080"/>
            <a:ext cx="1417320" cy="1051560"/>
          </a:xfrm>
          <a:prstGeom prst="roundRect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Inspection &amp;
Cleaning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60848" y="3369564"/>
            <a:ext cx="115823" cy="164592"/>
          </a:xfrm>
          <a:prstGeom prst="righ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0" y="2926080"/>
            <a:ext cx="1417320" cy="1051560"/>
          </a:xfrm>
          <a:prstGeom prst="roundRect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Transformation
&amp; KPIs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30568" y="3369564"/>
            <a:ext cx="115823" cy="164592"/>
          </a:xfrm>
          <a:prstGeom prst="righ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64680" y="2926080"/>
            <a:ext cx="1417320" cy="10515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00288" y="3369564"/>
            <a:ext cx="115823" cy="164592"/>
          </a:xfrm>
          <a:prstGeom prst="righ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34400" y="2926080"/>
            <a:ext cx="1417320" cy="10515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70008" y="3369564"/>
            <a:ext cx="115823" cy="164592"/>
          </a:xfrm>
          <a:prstGeom prst="rightArrow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04120" y="2926080"/>
            <a:ext cx="1417320" cy="1051560"/>
          </a:xfrm>
          <a:prstGeom prst="roundRect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Insights &amp;
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defRPr i="0"/>
            </a:pPr>
            <a:r>
              <a:rPr sz="1300" b="0">
                <a:solidFill>
                  <a:srgbClr val="404040"/>
                </a:solidFill>
                <a:latin typeface="Calibri"/>
              </a:rPr>
              <a:t>Every KPI and analysis table is built as a live Excel formula referencing the cleaned dataset directly — the workbook recalculates automatically if the source data changes.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Data Cleaning &amp; KPI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75623"/>
                </a:solidFill>
                <a:latin typeface="Calibri"/>
              </a:rPr>
              <a:t>Data Cleaning 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2219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2,233 raw records → 25 duplicates removed → 11 invalid-date rows removed → 8 invalid-value rows removed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6791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Category &amp; Region spelling/casing standardized; missing Customer Name and Discount values filled rather than dropped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1363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Final cleaned dataset: 2,189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80560"/>
            <a:ext cx="1653540" cy="105156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₹91.1L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Total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2220" y="4480560"/>
            <a:ext cx="1653540" cy="105156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₹22.1L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Total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4480560"/>
            <a:ext cx="1653540" cy="105156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2,189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Total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4480560"/>
            <a:ext cx="1653540" cy="105156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386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4480560"/>
            <a:ext cx="1653540" cy="105156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₹4,163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Avg Order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67900" y="4480560"/>
            <a:ext cx="1653540" cy="105156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24.2%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Profit Margin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Result / Output — Excel Dashboard</a:t>
            </a:r>
          </a:p>
        </p:txBody>
      </p:sp>
      <p:pic>
        <p:nvPicPr>
          <p:cNvPr id="3" name="Picture 2" descr="dashboard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986" y="1554480"/>
            <a:ext cx="6081266" cy="47091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355079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defRPr i="1"/>
            </a:pPr>
            <a:r>
              <a:rPr sz="1200" b="0">
                <a:solidFill>
                  <a:srgbClr val="707070"/>
                </a:solidFill>
                <a:latin typeface="Calibri"/>
              </a:rPr>
              <a:t>Live dashboard: 6 KPI cards, 3 dropdown filters (Year / Region / Category), and 4 linked charts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Key Business Insights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74519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Calibri"/>
              </a:rPr>
              <a:t>Electronics drives the most revenue (₹27.68L) but has the lowest profit margin of any category (10.1%)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880360"/>
            <a:ext cx="548640" cy="5486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926079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Calibri"/>
              </a:rPr>
              <a:t>Discounts above 20% erode margin; the 30% tier is unprofitable on average (-0.6% margin)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931920"/>
            <a:ext cx="548640" cy="5486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77639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Calibri"/>
              </a:rPr>
              <a:t>October–November is a clear seasonal sales peak, consistent with festive-season demand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983479"/>
            <a:ext cx="548640" cy="5486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199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Calibri"/>
              </a:rPr>
              <a:t>81% of customers (314 of 386) are repeat buyers — retention is the stronger revenue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26479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i="1"/>
            </a:pPr>
            <a:r>
              <a:rPr sz="1150" b="0">
                <a:solidFill>
                  <a:srgbClr val="707070"/>
                </a:solidFill>
                <a:latin typeface="Calibri"/>
              </a:rPr>
              <a:t>Full detail (10 insights with evidence): documentation/insights.md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Challenges Faced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94767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470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00">
                <a:solidFill>
                  <a:srgbClr val="404040"/>
                </a:solidFill>
                <a:latin typeface="Calibri"/>
              </a:rPr>
              <a:t>Handling realistic data-quality issues without over-correcting — e.g. deciding to fill missing discounts with 0% rather than dropping those rows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40487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00">
                <a:solidFill>
                  <a:srgbClr val="404040"/>
                </a:solidFill>
                <a:latin typeface="Calibri"/>
              </a:rPr>
              <a:t>Designing dashboard filters that update KPI cards live using formulas, without native Excel PivotTables/Slicers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86207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00">
                <a:solidFill>
                  <a:srgbClr val="404040"/>
                </a:solidFill>
                <a:latin typeface="Calibri"/>
              </a:rPr>
              <a:t>Keeping every KPI and chart formula-driven and auditable, rather than hardcoding computed values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31927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00">
                <a:solidFill>
                  <a:srgbClr val="404040"/>
                </a:solidFill>
                <a:latin typeface="Calibri"/>
              </a:rPr>
              <a:t>Deciding cleaning rules that don't silently distort genuine business data — for example, choosing not to recompute Sales/Profit from Quantity × Price, since that could overwrite legitimate point-of-sale pricing rules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Achievements &amp; Contributions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9476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470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50">
                <a:solidFill>
                  <a:srgbClr val="404040"/>
                </a:solidFill>
                <a:latin typeface="Calibri"/>
              </a:rPr>
              <a:t>Built a fully formula-driven, auditable Excel dashboard with live filters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4048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50">
                <a:solidFill>
                  <a:srgbClr val="404040"/>
                </a:solidFill>
                <a:latin typeface="Calibri"/>
              </a:rPr>
              <a:t>Documented every single data-cleaning decision with real numbers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8620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50">
                <a:solidFill>
                  <a:srgbClr val="404040"/>
                </a:solidFill>
                <a:latin typeface="Calibri"/>
              </a:rPr>
              <a:t>Delivered 10 evidence-based insights and 7 actionable recommendations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3192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50">
                <a:solidFill>
                  <a:srgbClr val="404040"/>
                </a:solidFill>
                <a:latin typeface="Calibri"/>
              </a:rPr>
              <a:t>Structured the entire project in a clean, GitHub-ready repository format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764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650">
                <a:solidFill>
                  <a:srgbClr val="404040"/>
                </a:solidFill>
                <a:latin typeface="Calibri"/>
              </a:rPr>
              <a:t>Produced a complete project report, methodology write-up, and video walkthrough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Learnings &amp; Industry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50" b="1">
                <a:solidFill>
                  <a:srgbClr val="375623"/>
                </a:solidFill>
                <a:latin typeface="Calibri"/>
              </a:rPr>
              <a:t>Key Learnings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2219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High sales does not equal high profit — margin must be tracked alongside revenue, not instead of it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6791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Clean, well-documented data is the foundation every downstream KPI and chart depends on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13639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A transparent, formula-based dashboard is easier to trust and explain than a set of static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50" b="1">
                <a:solidFill>
                  <a:srgbClr val="375623"/>
                </a:solidFill>
                <a:latin typeface="Calibri"/>
              </a:rPr>
              <a:t>Industry Observations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64515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445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Retail and e-commerce analytics increasingly relies on interactive dashboards for fast, filterable decisions rather than static monthly reports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10235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017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Profitability-aware reporting (not just revenue) is now standard practice in retail analytics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91640"/>
            <a:ext cx="10835640" cy="1371600"/>
          </a:xfrm>
          <a:prstGeom prst="roundRect">
            <a:avLst/>
          </a:prstGeom>
          <a:solidFill>
            <a:srgbClr val="E9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78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375623"/>
                </a:solidFill>
                <a:latin typeface="Calibri"/>
              </a:rPr>
              <a:t>The business shows healthy overall profitability (24.2% margin) on a loyal, well-distributed customer base — but performance is uneven beneath the surface: the top category and top product by revenue are both below-average earners, and heavy discounting is actively destroying margin at the highest tiers.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375623"/>
                </a:solidFill>
                <a:latin typeface="Calibri"/>
              </a:rPr>
              <a:t>Future Scope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391363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130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Intermediate Level (next): customer segmentation, RFM analysis, cohort/retention analysis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437083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702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Advanced Level: predictive modeling, sales forecasting, and automated reporting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2BAB-0614-E645-9D76-22521A5F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61142" cy="1325563"/>
          </a:xfrm>
        </p:spPr>
        <p:txBody>
          <a:bodyPr/>
          <a:lstStyle/>
          <a:p>
            <a:pPr>
              <a:defRPr sz="3000" b="1">
                <a:solidFill>
                  <a:srgbClr val="375623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2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75623"/>
                </a:solidFill>
                <a:latin typeface="Calibri"/>
              </a:rPr>
              <a:t>Tools Used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4048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Microsoft Excel — KPI formulas, aggregation tables, charts, dashboard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8620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Python (pandas, numpy, openpyxl) — dataset generation and cleaning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75623"/>
                </a:solidFill>
                <a:latin typeface="Calibri"/>
              </a:rPr>
              <a:t>Dataset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54787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472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Synthetically generated for this project; explicitly disclosed as synthetic, not real company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10835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75623"/>
                </a:solidFill>
                <a:latin typeface="Calibri"/>
              </a:rPr>
              <a:t>Project Documentation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53712"/>
            <a:ext cx="91440" cy="91440"/>
          </a:xfrm>
          <a:prstGeom prst="ellipse">
            <a:avLst/>
          </a:prstGeom>
          <a:solidFill>
            <a:srgbClr val="E3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531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50">
                <a:solidFill>
                  <a:srgbClr val="404040"/>
                </a:solidFill>
                <a:latin typeface="Calibri"/>
              </a:rPr>
              <a:t>data_cleaning.md · methodology.md · insights.md · recommendations.md (project repository)</a:t>
            </a:r>
          </a:p>
        </p:txBody>
      </p:sp>
    </p:spTree>
    <p:extLst>
      <p:ext uri="{BB962C8B-B14F-4D97-AF65-F5344CB8AC3E}">
        <p14:creationId xmlns:p14="http://schemas.microsoft.com/office/powerpoint/2010/main" val="16934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88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CCC70BB-1681-E94D-9B9C-C1BC2F73D661}" vid="{B3BEE897-5621-174F-AE85-C7C8EABE51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2575</TotalTime>
  <Words>14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Industrial Training   Project Title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 Mongia</dc:creator>
  <cp:lastModifiedBy>Lenovo</cp:lastModifiedBy>
  <cp:revision>15</cp:revision>
  <dcterms:created xsi:type="dcterms:W3CDTF">2021-10-10T12:23:51Z</dcterms:created>
  <dcterms:modified xsi:type="dcterms:W3CDTF">2024-02-29T08:32:28Z</dcterms:modified>
</cp:coreProperties>
</file>